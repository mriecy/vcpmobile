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7"/>
  </p:notesMasterIdLst>
  <p:sldIdLst>
    <p:sldId id="258" r:id="rId2"/>
    <p:sldId id="357" r:id="rId3"/>
    <p:sldId id="358" r:id="rId4"/>
    <p:sldId id="260" r:id="rId5"/>
    <p:sldId id="305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DA190-1F1B-4539-89AF-69C9A00EA24A}" type="datetimeFigureOut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5C844-2AFA-4F08-9A3A-E9CEF8CE6D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569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kumimoji="1" lang="zh-CN" altLang="en-US" sz="6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  <a:cs typeface="+mn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kumimoji="1" lang="zh-CN" altLang="en-US" sz="3600" b="1" smtClean="0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2D8D80D-97C6-4242-BFD7-EA97BBF78E37}" type="datetime1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 b="1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D10EDA-EA5B-43F9-AF62-0EEEB338FCB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116632"/>
            <a:ext cx="3168352" cy="6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9859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98092"/>
            <a:ext cx="5334000" cy="668784"/>
          </a:xfrm>
        </p:spPr>
        <p:txBody>
          <a:bodyPr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lang="zh-CN" altLang="en-US" sz="3200" b="0" u="none" baseline="0" dirty="0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  <a:cs typeface="+mj-cs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319276"/>
            <a:ext cx="7772400" cy="4702012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baseline="0">
                <a:solidFill>
                  <a:schemeClr val="accent4">
                    <a:lumMod val="95000"/>
                    <a:lumOff val="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indent="0">
              <a:lnSpc>
                <a:spcPct val="125000"/>
              </a:lnSpc>
              <a:buNone/>
              <a:defRPr baseline="0">
                <a:solidFill>
                  <a:schemeClr val="accent4">
                    <a:lumMod val="95000"/>
                    <a:lumOff val="5000"/>
                  </a:schemeClr>
                </a:solidFill>
                <a:ea typeface="华文新魏" panose="02010800040101010101" pitchFamily="2" charset="-122"/>
              </a:defRPr>
            </a:lvl2pPr>
            <a:lvl3pPr marL="914400" indent="0">
              <a:lnSpc>
                <a:spcPct val="125000"/>
              </a:lnSpc>
              <a:buNone/>
              <a:defRPr baseline="0">
                <a:solidFill>
                  <a:schemeClr val="accent4">
                    <a:lumMod val="95000"/>
                    <a:lumOff val="5000"/>
                  </a:schemeClr>
                </a:solidFill>
                <a:ea typeface="华文新魏" panose="02010800040101010101" pitchFamily="2" charset="-122"/>
              </a:defRPr>
            </a:lvl3pPr>
            <a:lvl4pPr marL="1371600" indent="0">
              <a:lnSpc>
                <a:spcPct val="125000"/>
              </a:lnSpc>
              <a:buNone/>
              <a:defRPr baseline="0">
                <a:solidFill>
                  <a:schemeClr val="accent4">
                    <a:lumMod val="95000"/>
                    <a:lumOff val="5000"/>
                  </a:schemeClr>
                </a:solidFill>
                <a:ea typeface="华文新魏" panose="02010800040101010101" pitchFamily="2" charset="-122"/>
              </a:defRPr>
            </a:lvl4pPr>
            <a:lvl5pPr marL="1828800" indent="0">
              <a:lnSpc>
                <a:spcPct val="125000"/>
              </a:lnSpc>
              <a:buNone/>
              <a:defRPr baseline="0">
                <a:solidFill>
                  <a:schemeClr val="accent4">
                    <a:lumMod val="95000"/>
                    <a:lumOff val="5000"/>
                  </a:schemeClr>
                </a:solidFill>
                <a:ea typeface="华文新魏" panose="02010800040101010101" pitchFamily="2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(使用中文字体)"/>
                <a:ea typeface="华文新魏" panose="02010800040101010101" pitchFamily="2" charset="-122"/>
              </a:defRPr>
            </a:lvl1pPr>
          </a:lstStyle>
          <a:p>
            <a:fld id="{27E01336-C3A5-4B60-BAAB-FB3357EE1E75}" type="datetime1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 b="1" baseline="0">
                <a:solidFill>
                  <a:schemeClr val="tx2"/>
                </a:solidFill>
                <a:latin typeface="(使用中文字体)"/>
                <a:ea typeface="华文新魏" panose="0201080004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(使用中文字体)"/>
                <a:ea typeface="华文新魏" panose="02010800040101010101" pitchFamily="2" charset="-122"/>
              </a:defRPr>
            </a:lvl1pPr>
          </a:lstStyle>
          <a:p>
            <a:fld id="{B0D10EDA-EA5B-43F9-AF62-0EEEB338FCB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8424" y="134239"/>
            <a:ext cx="666700" cy="6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585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1162399"/>
            <a:ext cx="7772400" cy="1362075"/>
          </a:xfrm>
        </p:spPr>
        <p:txBody>
          <a:bodyPr anchor="t"/>
          <a:lstStyle>
            <a:lvl1pPr algn="l">
              <a:defRPr sz="4000" b="1" cap="all" baseline="0">
                <a:solidFill>
                  <a:schemeClr val="tx1"/>
                </a:solidFill>
                <a:latin typeface="华文新魏" panose="02010800040101010101" pitchFamily="2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708920"/>
            <a:ext cx="7772400" cy="2304255"/>
          </a:xfrm>
        </p:spPr>
        <p:txBody>
          <a:bodyPr anchor="b"/>
          <a:lstStyle>
            <a:lvl1pPr marL="0" indent="0">
              <a:buNone/>
              <a:defRPr sz="2000" baseline="0">
                <a:solidFill>
                  <a:schemeClr val="tx2"/>
                </a:solidFill>
                <a:latin typeface="华文新魏" panose="02010800040101010101" pitchFamily="2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C881B38-55A4-48B3-9750-98D0D2F4E139}" type="datetime1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 b="1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D10EDA-EA5B-43F9-AF62-0EEEB338FCB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8424" y="134239"/>
            <a:ext cx="666700" cy="6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7880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76"/>
            <a:ext cx="3810000" cy="4776724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lnSpc>
                <a:spcPct val="125000"/>
              </a:lnSpc>
              <a:buNone/>
              <a:defRPr sz="2400">
                <a:solidFill>
                  <a:schemeClr val="tx2"/>
                </a:solidFill>
              </a:defRPr>
            </a:lvl2pPr>
            <a:lvl3pPr marL="914400" indent="0">
              <a:lnSpc>
                <a:spcPct val="125000"/>
              </a:lnSpc>
              <a:buNone/>
              <a:defRPr sz="2000">
                <a:solidFill>
                  <a:schemeClr val="tx2"/>
                </a:solidFill>
              </a:defRPr>
            </a:lvl3pPr>
            <a:lvl4pPr marL="1371600" indent="0">
              <a:lnSpc>
                <a:spcPct val="125000"/>
              </a:lnSpc>
              <a:buNone/>
              <a:defRPr sz="1800">
                <a:solidFill>
                  <a:schemeClr val="tx2"/>
                </a:solidFill>
              </a:defRPr>
            </a:lvl4pPr>
            <a:lvl5pPr marL="1828800" indent="0">
              <a:lnSpc>
                <a:spcPct val="125000"/>
              </a:lnSpc>
              <a:buNone/>
              <a:defRPr sz="1800">
                <a:solidFill>
                  <a:schemeClr val="tx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76"/>
            <a:ext cx="3810000" cy="4776724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lnSpc>
                <a:spcPct val="125000"/>
              </a:lnSpc>
              <a:buNone/>
              <a:defRPr sz="2400">
                <a:solidFill>
                  <a:schemeClr val="tx2"/>
                </a:solidFill>
              </a:defRPr>
            </a:lvl2pPr>
            <a:lvl3pPr marL="914400" indent="0">
              <a:lnSpc>
                <a:spcPct val="125000"/>
              </a:lnSpc>
              <a:buNone/>
              <a:defRPr sz="2000">
                <a:solidFill>
                  <a:schemeClr val="tx2"/>
                </a:solidFill>
              </a:defRPr>
            </a:lvl3pPr>
            <a:lvl4pPr marL="1371600" indent="0">
              <a:lnSpc>
                <a:spcPct val="125000"/>
              </a:lnSpc>
              <a:buNone/>
              <a:defRPr sz="1800">
                <a:solidFill>
                  <a:schemeClr val="tx2"/>
                </a:solidFill>
              </a:defRPr>
            </a:lvl4pPr>
            <a:lvl5pPr marL="1828800" indent="0">
              <a:lnSpc>
                <a:spcPct val="125000"/>
              </a:lnSpc>
              <a:buNone/>
              <a:defRPr sz="1800">
                <a:solidFill>
                  <a:schemeClr val="tx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A94AFF-9B4C-4B50-9633-3A473DCCF26D}" type="datetime1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400" b="1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D10EDA-EA5B-43F9-AF62-0EEEB338FCB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8424" y="134239"/>
            <a:ext cx="666700" cy="645921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685800" y="498092"/>
            <a:ext cx="5334000" cy="668784"/>
          </a:xfrm>
        </p:spPr>
        <p:txBody>
          <a:bodyPr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lang="zh-CN" altLang="en-US" sz="3200" b="1" u="sng" baseline="0" dirty="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j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11159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89113"/>
            <a:ext cx="4040188" cy="763525"/>
          </a:xfrm>
        </p:spPr>
        <p:txBody>
          <a:bodyPr anchor="b">
            <a:normAutofit/>
          </a:bodyPr>
          <a:lstStyle>
            <a:lvl1pPr marL="0" indent="0">
              <a:lnSpc>
                <a:spcPct val="125000"/>
              </a:lnSpc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lnSpc>
                <a:spcPct val="125000"/>
              </a:lnSpc>
              <a:buNone/>
              <a:defRPr sz="2000">
                <a:solidFill>
                  <a:schemeClr val="accent6"/>
                </a:solidFill>
              </a:defRPr>
            </a:lvl2pPr>
            <a:lvl3pPr marL="914400" indent="0">
              <a:lnSpc>
                <a:spcPct val="125000"/>
              </a:lnSpc>
              <a:buNone/>
              <a:defRPr sz="1800">
                <a:solidFill>
                  <a:schemeClr val="accent6"/>
                </a:solidFill>
              </a:defRPr>
            </a:lvl3pPr>
            <a:lvl4pPr marL="1371600" indent="0">
              <a:lnSpc>
                <a:spcPct val="125000"/>
              </a:lnSpc>
              <a:buNone/>
              <a:defRPr sz="1600">
                <a:solidFill>
                  <a:schemeClr val="accent6"/>
                </a:solidFill>
              </a:defRPr>
            </a:lvl4pPr>
            <a:lvl5pPr marL="1828800" indent="0">
              <a:lnSpc>
                <a:spcPct val="125000"/>
              </a:lnSpc>
              <a:buNone/>
              <a:defRPr sz="1600">
                <a:solidFill>
                  <a:schemeClr val="accent6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289113"/>
            <a:ext cx="4041775" cy="763525"/>
          </a:xfrm>
        </p:spPr>
        <p:txBody>
          <a:bodyPr anchor="b">
            <a:normAutofit/>
          </a:bodyPr>
          <a:lstStyle>
            <a:lvl1pPr marL="0" indent="0">
              <a:lnSpc>
                <a:spcPct val="125000"/>
              </a:lnSpc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lnSpc>
                <a:spcPct val="125000"/>
              </a:lnSpc>
              <a:buNone/>
              <a:defRPr sz="2000">
                <a:solidFill>
                  <a:schemeClr val="accent6"/>
                </a:solidFill>
              </a:defRPr>
            </a:lvl2pPr>
            <a:lvl3pPr marL="914400" indent="0">
              <a:lnSpc>
                <a:spcPct val="125000"/>
              </a:lnSpc>
              <a:buNone/>
              <a:defRPr sz="1800">
                <a:solidFill>
                  <a:schemeClr val="accent6"/>
                </a:solidFill>
              </a:defRPr>
            </a:lvl3pPr>
            <a:lvl4pPr marL="1371600" indent="0">
              <a:lnSpc>
                <a:spcPct val="125000"/>
              </a:lnSpc>
              <a:buNone/>
              <a:defRPr sz="1600">
                <a:solidFill>
                  <a:schemeClr val="accent6"/>
                </a:solidFill>
              </a:defRPr>
            </a:lvl4pPr>
            <a:lvl5pPr marL="1828800" indent="0">
              <a:lnSpc>
                <a:spcPct val="125000"/>
              </a:lnSpc>
              <a:buNone/>
              <a:defRPr sz="1600">
                <a:solidFill>
                  <a:schemeClr val="accent6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39041F-B6DD-4673-BE4C-28FACEEB8658}" type="datetime1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 b="1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D10EDA-EA5B-43F9-AF62-0EEEB338FCB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8424" y="134239"/>
            <a:ext cx="666700" cy="645921"/>
          </a:xfrm>
          <a:prstGeom prst="rect">
            <a:avLst/>
          </a:prstGeom>
        </p:spPr>
      </p:pic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685800" y="498092"/>
            <a:ext cx="5334000" cy="668784"/>
          </a:xfrm>
        </p:spPr>
        <p:txBody>
          <a:bodyPr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lang="zh-CN" altLang="en-US" sz="3200" b="1" u="sng" baseline="0" dirty="0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  <a:cs typeface="+mj-cs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2419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B440BBB-5C70-4797-A695-035DE461EB88}" type="datetime1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 b="1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10EDA-EA5B-43F9-AF62-0EEEB338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431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8EA77A-32A0-4783-9ACE-E9B3EB381C3C}" type="datetime1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 b="1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D10EDA-EA5B-43F9-AF62-0EEEB338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8449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039813"/>
          </a:xfrm>
        </p:spPr>
        <p:txBody>
          <a:bodyPr anchor="b">
            <a:noAutofit/>
          </a:bodyPr>
          <a:lstStyle>
            <a:lvl1pPr algn="l">
              <a:lnSpc>
                <a:spcPct val="125000"/>
              </a:lnSpc>
              <a:defRPr sz="2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lnSpc>
                <a:spcPct val="125000"/>
              </a:lnSpc>
              <a:buNone/>
              <a:defRPr sz="2800">
                <a:solidFill>
                  <a:schemeClr val="tx2"/>
                </a:solidFill>
              </a:defRPr>
            </a:lvl2pPr>
            <a:lvl3pPr marL="914400" indent="0">
              <a:lnSpc>
                <a:spcPct val="125000"/>
              </a:lnSpc>
              <a:buNone/>
              <a:defRPr sz="2400">
                <a:solidFill>
                  <a:schemeClr val="tx2"/>
                </a:solidFill>
              </a:defRPr>
            </a:lvl3pPr>
            <a:lvl4pPr marL="1371600" indent="0">
              <a:lnSpc>
                <a:spcPct val="125000"/>
              </a:lnSpc>
              <a:buNone/>
              <a:defRPr sz="2000">
                <a:solidFill>
                  <a:schemeClr val="tx2"/>
                </a:solidFill>
              </a:defRPr>
            </a:lvl4pPr>
            <a:lvl5pPr marL="1828800" indent="0">
              <a:lnSpc>
                <a:spcPct val="125000"/>
              </a:lnSpc>
              <a:buNone/>
              <a:defRPr sz="20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lnSpc>
                <a:spcPct val="125000"/>
              </a:lnSpc>
              <a:defRPr>
                <a:solidFill>
                  <a:schemeClr val="tx2"/>
                </a:solidFill>
              </a:defRPr>
            </a:lvl1pPr>
          </a:lstStyle>
          <a:p>
            <a:fld id="{79C31214-6513-44E4-94D0-D38E369F1B4B}" type="datetime1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lnSpc>
                <a:spcPct val="125000"/>
              </a:lnSpc>
              <a:defRPr sz="1400" b="1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lnSpc>
                <a:spcPct val="125000"/>
              </a:lnSpc>
              <a:defRPr>
                <a:solidFill>
                  <a:schemeClr val="tx2"/>
                </a:solidFill>
              </a:defRPr>
            </a:lvl1pPr>
          </a:lstStyle>
          <a:p>
            <a:fld id="{B0D10EDA-EA5B-43F9-AF62-0EEEB338FCB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8424" y="134239"/>
            <a:ext cx="666700" cy="6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8591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E30AAD-9976-49C8-9F85-244178CC1AEC}" type="datetime1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 b="1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10EDA-EA5B-43F9-AF62-0EEEB338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4539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B9ABDEC-DD58-4690-B4C1-DF2B702060C6}" type="datetime1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 b="1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10EDA-EA5B-43F9-AF62-0EEEB338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063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2881B7B-6A4D-4D0C-A4A5-8AD70B343A66}" type="datetime1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 b="1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10EDA-EA5B-43F9-AF62-0EEEB338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4852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F7A3673-C7C6-4932-BD00-DA4A77BEC989}" type="datetime1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D10EDA-EA5B-43F9-AF62-0EEEB338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4733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B2F31F8-8E61-4FB6-9B73-0FEEA5A6F6B9}" type="datetime1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0D10EDA-EA5B-43F9-AF62-0EEEB338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6946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03DBD71-9D4A-4C9D-AA12-899C2106E9B1}" type="datetime1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0D10EDA-EA5B-43F9-AF62-0EEEB338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11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单击此处编辑母版标题样式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1761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 baseline="0">
                <a:solidFill>
                  <a:srgbClr val="2D2DB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fld id="{3B9D8415-3306-4EFE-BBF1-459F34A1E3CD}" type="datetime1">
              <a:rPr lang="zh-CN" altLang="en-US" smtClean="0"/>
              <a:t>2020/5/21</a:t>
            </a:fld>
            <a:endParaRPr lang="zh-CN" altLang="en-US"/>
          </a:p>
        </p:txBody>
      </p:sp>
      <p:sp>
        <p:nvSpPr>
          <p:cNvPr id="1761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533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 baseline="0">
                <a:solidFill>
                  <a:srgbClr val="2D2DB9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761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baseline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fld id="{B0D10EDA-EA5B-43F9-AF62-0EEEB338FC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65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b="1" baseline="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rgbClr val="663300"/>
          </a:solidFill>
          <a:latin typeface="Times New Roman" pitchFamily="18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rgbClr val="663300"/>
          </a:solidFill>
          <a:latin typeface="Times New Roman" pitchFamily="18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rgbClr val="663300"/>
          </a:solidFill>
          <a:latin typeface="Times New Roman" pitchFamily="18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rgbClr val="663300"/>
          </a:solidFill>
          <a:latin typeface="Times New Roman" pitchFamily="18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rgbClr val="663300"/>
          </a:solidFill>
          <a:latin typeface="Times New Roman" pitchFamily="18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rgbClr val="663300"/>
          </a:solidFill>
          <a:latin typeface="Times New Roman" pitchFamily="18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rgbClr val="663300"/>
          </a:solidFill>
          <a:latin typeface="Times New Roman" pitchFamily="18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rgbClr val="663300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&#24050;&#24314;&#22909;&#30340;&#27169;&#22411;/&#23454;&#39564;1&#65306;&#35299;&#26512;&#27169;&#22411;&#31034;&#20363;&#8212;&#8212;&#32447;&#24615;&#39044;&#27979;&#27169;&#22411;.xlsx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&#24050;&#24314;&#22909;&#30340;&#27169;&#22411;/&#23454;&#39564;2&#65306;&#27169;&#25311;&#27169;&#22411;&#31034;&#20363;-&#20179;&#24211;&#21368;&#36135;&#38382;&#39064;.xlsx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&#24050;&#24314;&#22909;&#30340;&#27169;&#22411;/&#23454;&#39564;2&#65306;&#33945;&#29305;&#21345;&#27931;&#27169;&#25311;&#8212;&#8212;&#20989;&#25968;&#31215;&#20998;.xlsx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&#24050;&#24314;&#22909;&#30340;&#27169;&#22411;/&#23454;&#39564;3&#65306;&#33945;&#29305;&#21345;&#27931;&#27169;&#25311;&#8212;&#8212;&#35745;&#31639;&#960;&#20540;.xlsx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package" Target="../embeddings/Microsoft_Visio___11111.vsdx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799" y="498092"/>
            <a:ext cx="6603521" cy="66878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实验</a:t>
            </a:r>
            <a:r>
              <a:rPr lang="en-US" altLang="zh-CN" dirty="0"/>
              <a:t>1</a:t>
            </a:r>
            <a:r>
              <a:rPr lang="zh-CN" altLang="en-US" dirty="0"/>
              <a:t>：解析模型示例</a:t>
            </a:r>
            <a:r>
              <a:rPr lang="en-US" altLang="zh-CN" dirty="0"/>
              <a:t>——</a:t>
            </a:r>
            <a:r>
              <a:rPr lang="zh-CN" altLang="en-US" dirty="0"/>
              <a:t>线性预测模型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zh-CN" altLang="en-US" sz="2800" dirty="0" smtClean="0">
                    <a:solidFill>
                      <a:schemeClr val="tx1"/>
                    </a:solidFill>
                  </a:rPr>
                  <a:t>问题：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pPr lvl="1"/>
                <a:r>
                  <a:rPr lang="zh-CN" altLang="en-US" sz="2400" dirty="0" smtClean="0">
                    <a:solidFill>
                      <a:schemeClr val="accent4"/>
                    </a:solidFill>
                  </a:rPr>
                  <a:t>已知某快速消费品过去数月销量，希望预测后期销量</a:t>
                </a:r>
                <a:endParaRPr lang="en-US" altLang="zh-CN" sz="2400" dirty="0" smtClean="0">
                  <a:solidFill>
                    <a:schemeClr val="accent4"/>
                  </a:solidFill>
                </a:endParaRPr>
              </a:p>
              <a:p>
                <a:pPr lvl="1"/>
                <a:endParaRPr lang="en-US" altLang="zh-CN" sz="2400" dirty="0" smtClean="0">
                  <a:solidFill>
                    <a:schemeClr val="accent4"/>
                  </a:solidFill>
                </a:endParaRPr>
              </a:p>
              <a:p>
                <a:endParaRPr lang="en-US" altLang="zh-CN" sz="2800" dirty="0" smtClean="0">
                  <a:solidFill>
                    <a:schemeClr val="accent4"/>
                  </a:solidFill>
                </a:endParaRPr>
              </a:p>
              <a:p>
                <a:endParaRPr lang="en-US" altLang="zh-CN" sz="2800" dirty="0">
                  <a:solidFill>
                    <a:schemeClr val="accent4"/>
                  </a:solidFill>
                </a:endParaRPr>
              </a:p>
              <a:p>
                <a:r>
                  <a:rPr lang="zh-CN" altLang="en-US" sz="2800" dirty="0" smtClean="0">
                    <a:solidFill>
                      <a:schemeClr val="tx1"/>
                    </a:solidFill>
                  </a:rPr>
                  <a:t>建立模型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pPr lvl="1"/>
                <a:r>
                  <a:rPr lang="zh-CN" altLang="en-US" sz="2400" dirty="0" smtClean="0">
                    <a:solidFill>
                      <a:schemeClr val="accent4"/>
                    </a:solidFill>
                  </a:rPr>
                  <a:t>初始选择：</a:t>
                </a:r>
                <a:r>
                  <a:rPr lang="zh-CN" altLang="en-US" sz="2400" dirty="0" smtClean="0">
                    <a:solidFill>
                      <a:schemeClr val="tx2"/>
                    </a:solidFill>
                    <a:hlinkClick r:id="rId2" action="ppaction://hlinkfile"/>
                  </a:rPr>
                  <a:t>线性时序模型</a:t>
                </a:r>
                <a:endParaRPr lang="en-US" altLang="zh-CN" sz="2400" dirty="0" smtClean="0">
                  <a:solidFill>
                    <a:schemeClr val="tx2"/>
                  </a:solidFill>
                </a:endParaRPr>
              </a:p>
              <a:p>
                <a:pPr lvl="1"/>
                <a:r>
                  <a:rPr lang="zh-CN" altLang="en-US" sz="2400" dirty="0" smtClean="0">
                    <a:solidFill>
                      <a:schemeClr val="accent4"/>
                    </a:solidFill>
                  </a:rPr>
                  <a:t>建模过程：通过最小二乘法得到一元线性回归模型</a:t>
                </a:r>
                <a:endParaRPr lang="en-US" altLang="zh-CN" sz="2400" dirty="0" smtClean="0">
                  <a:solidFill>
                    <a:schemeClr val="accent4"/>
                  </a:solidFill>
                </a:endParaRPr>
              </a:p>
              <a:p>
                <a:pPr lvl="1"/>
                <a:r>
                  <a:rPr lang="zh-CN" altLang="en-US" sz="2400" dirty="0" smtClean="0">
                    <a:solidFill>
                      <a:schemeClr val="accent4"/>
                    </a:solidFill>
                  </a:rPr>
                  <a:t>建模工具：</a:t>
                </a:r>
                <a:r>
                  <a:rPr lang="en-US" altLang="zh-CN" sz="2400" dirty="0" smtClean="0">
                    <a:solidFill>
                      <a:schemeClr val="accent4"/>
                    </a:solidFill>
                  </a:rPr>
                  <a:t>Excel</a:t>
                </a:r>
              </a:p>
              <a:p>
                <a:pPr lvl="1"/>
                <a:r>
                  <a:rPr lang="en-US" altLang="zh-CN" sz="2400" dirty="0" smtClean="0">
                    <a:solidFill>
                      <a:schemeClr val="accent4"/>
                    </a:solidFill>
                  </a:rPr>
                  <a:t> </a:t>
                </a:r>
                <a:r>
                  <a:rPr lang="zh-CN" altLang="en-US" sz="2400" dirty="0" smtClean="0">
                    <a:solidFill>
                      <a:schemeClr val="accent4"/>
                    </a:solidFill>
                  </a:rPr>
                  <a:t>模型：</a:t>
                </a:r>
                <a:r>
                  <a:rPr lang="en-US" altLang="zh-CN" sz="2400" dirty="0" smtClean="0">
                    <a:solidFill>
                      <a:schemeClr val="accent4"/>
                    </a:solidFill>
                  </a:rPr>
                  <a:t>		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=1058.4x-10559</a:t>
                </a:r>
              </a:p>
              <a:p>
                <a:pPr marL="457200" lvl="1" indent="0">
                  <a:buNone/>
                </a:pPr>
                <a:endParaRPr lang="en-US" altLang="zh-CN" sz="2400" dirty="0">
                  <a:solidFill>
                    <a:schemeClr val="accent4"/>
                  </a:solidFill>
                </a:endParaRPr>
              </a:p>
              <a:p>
                <a:r>
                  <a:rPr lang="zh-CN" altLang="en-US" sz="2800" dirty="0" smtClean="0">
                    <a:solidFill>
                      <a:schemeClr val="tx1"/>
                    </a:solidFill>
                  </a:rPr>
                  <a:t>模型应用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pPr lvl="1"/>
                <a:r>
                  <a:rPr lang="zh-CN" altLang="en-US" sz="2400" dirty="0" smtClean="0">
                    <a:solidFill>
                      <a:schemeClr val="accent4"/>
                    </a:solidFill>
                  </a:rPr>
                  <a:t>预测后期销量</a:t>
                </a:r>
                <a:endParaRPr lang="en-US" altLang="zh-CN" sz="2400" dirty="0" smtClean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863" t="-5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A564-3797-41F0-9FA0-DE2DB885F0C3}" type="slidenum">
              <a:rPr lang="en-US" altLang="zh-CN" smtClean="0"/>
              <a:pPr/>
              <a:t>1</a:t>
            </a:fld>
            <a:endParaRPr lang="en-US" altLang="zh-CN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476055"/>
              </p:ext>
            </p:extLst>
          </p:nvPr>
        </p:nvGraphicFramePr>
        <p:xfrm>
          <a:off x="885276" y="2132856"/>
          <a:ext cx="756285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67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58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058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0581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058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0581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058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0581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058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86527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686527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686527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</a:tblGrid>
              <a:tr h="14219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月份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14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19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21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673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dirty="0" smtClean="0">
                          <a:solidFill>
                            <a:schemeClr val="tx1"/>
                          </a:solidFill>
                          <a:effectLst/>
                        </a:rPr>
                        <a:t>销量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1147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2632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3257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4256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4877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5736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6852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8923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10150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10842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</a:rPr>
                        <a:t>11467</a:t>
                      </a:r>
                      <a:endParaRPr lang="zh-CN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641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98092"/>
            <a:ext cx="7151914" cy="668784"/>
          </a:xfrm>
        </p:spPr>
        <p:txBody>
          <a:bodyPr>
            <a:normAutofit/>
          </a:bodyPr>
          <a:lstStyle/>
          <a:p>
            <a:r>
              <a:rPr lang="zh-CN" altLang="en-US" dirty="0"/>
              <a:t>实验</a:t>
            </a:r>
            <a:r>
              <a:rPr lang="en-US" altLang="zh-CN" dirty="0"/>
              <a:t>2</a:t>
            </a:r>
            <a:r>
              <a:rPr lang="zh-CN" altLang="en-US" dirty="0" smtClean="0"/>
              <a:t>：模拟模型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仓库卸货问题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3100" dirty="0" smtClean="0">
                <a:solidFill>
                  <a:srgbClr val="2D2DB9"/>
                </a:solidFill>
              </a:rPr>
              <a:t>问题：</a:t>
            </a:r>
            <a:endParaRPr lang="en-US" altLang="zh-CN" sz="3100" dirty="0" smtClean="0">
              <a:solidFill>
                <a:srgbClr val="2D2DB9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300" dirty="0">
                <a:solidFill>
                  <a:srgbClr val="2D2DB9"/>
                </a:solidFill>
              </a:rPr>
              <a:t>设某仓库前有一卸货场</a:t>
            </a:r>
            <a:r>
              <a:rPr lang="en-US" altLang="zh-CN" sz="2300" dirty="0">
                <a:solidFill>
                  <a:srgbClr val="2D2DB9"/>
                </a:solidFill>
              </a:rPr>
              <a:t>,</a:t>
            </a:r>
            <a:r>
              <a:rPr lang="zh-CN" altLang="en-US" sz="2300" dirty="0">
                <a:solidFill>
                  <a:srgbClr val="2D2DB9"/>
                </a:solidFill>
              </a:rPr>
              <a:t>货车一般是夜间到达</a:t>
            </a:r>
            <a:r>
              <a:rPr lang="en-US" altLang="zh-CN" sz="2300" dirty="0">
                <a:solidFill>
                  <a:srgbClr val="2D2DB9"/>
                </a:solidFill>
              </a:rPr>
              <a:t>,</a:t>
            </a:r>
            <a:r>
              <a:rPr lang="zh-CN" altLang="en-US" sz="2300" dirty="0">
                <a:solidFill>
                  <a:srgbClr val="2D2DB9"/>
                </a:solidFill>
              </a:rPr>
              <a:t>白天卸货。每天只能卸货</a:t>
            </a:r>
            <a:r>
              <a:rPr lang="en-US" altLang="zh-CN" sz="2300" dirty="0">
                <a:solidFill>
                  <a:srgbClr val="2D2DB9"/>
                </a:solidFill>
              </a:rPr>
              <a:t>2</a:t>
            </a:r>
            <a:r>
              <a:rPr lang="zh-CN" altLang="en-US" sz="2300" dirty="0">
                <a:solidFill>
                  <a:srgbClr val="2D2DB9"/>
                </a:solidFill>
              </a:rPr>
              <a:t>车</a:t>
            </a:r>
            <a:r>
              <a:rPr lang="en-US" altLang="zh-CN" sz="2300" dirty="0">
                <a:solidFill>
                  <a:srgbClr val="2D2DB9"/>
                </a:solidFill>
              </a:rPr>
              <a:t>,</a:t>
            </a:r>
            <a:r>
              <a:rPr lang="zh-CN" altLang="en-US" sz="2300" dirty="0">
                <a:solidFill>
                  <a:srgbClr val="2D2DB9"/>
                </a:solidFill>
              </a:rPr>
              <a:t>若于一日内到达数超过</a:t>
            </a:r>
            <a:r>
              <a:rPr lang="en-US" altLang="zh-CN" sz="2300" dirty="0">
                <a:solidFill>
                  <a:srgbClr val="2D2DB9"/>
                </a:solidFill>
              </a:rPr>
              <a:t>2</a:t>
            </a:r>
            <a:r>
              <a:rPr lang="zh-CN" altLang="en-US" sz="2300" dirty="0">
                <a:solidFill>
                  <a:srgbClr val="2D2DB9"/>
                </a:solidFill>
              </a:rPr>
              <a:t>车</a:t>
            </a:r>
            <a:r>
              <a:rPr lang="en-US" altLang="zh-CN" sz="2300" dirty="0">
                <a:solidFill>
                  <a:srgbClr val="2D2DB9"/>
                </a:solidFill>
              </a:rPr>
              <a:t>,</a:t>
            </a:r>
            <a:r>
              <a:rPr lang="zh-CN" altLang="en-US" sz="2300" dirty="0">
                <a:solidFill>
                  <a:srgbClr val="2D2DB9"/>
                </a:solidFill>
              </a:rPr>
              <a:t>那么就推迟到次日卸货。根据下表所示的经验货车到达数的概率分布</a:t>
            </a:r>
            <a:r>
              <a:rPr lang="en-US" altLang="zh-CN" sz="2300" dirty="0">
                <a:solidFill>
                  <a:srgbClr val="2D2DB9"/>
                </a:solidFill>
              </a:rPr>
              <a:t>(</a:t>
            </a:r>
            <a:r>
              <a:rPr lang="zh-CN" altLang="en-US" sz="2300" dirty="0">
                <a:solidFill>
                  <a:srgbClr val="2D2DB9"/>
                </a:solidFill>
              </a:rPr>
              <a:t>相对频率</a:t>
            </a:r>
            <a:r>
              <a:rPr lang="en-US" altLang="zh-CN" sz="2300" dirty="0">
                <a:solidFill>
                  <a:srgbClr val="2D2DB9"/>
                </a:solidFill>
              </a:rPr>
              <a:t>)</a:t>
            </a:r>
            <a:r>
              <a:rPr lang="zh-CN" altLang="en-US" sz="2300" dirty="0">
                <a:solidFill>
                  <a:srgbClr val="2D2DB9"/>
                </a:solidFill>
              </a:rPr>
              <a:t>平均为</a:t>
            </a:r>
            <a:r>
              <a:rPr lang="en-US" altLang="zh-CN" sz="2300" dirty="0">
                <a:solidFill>
                  <a:srgbClr val="2D2DB9"/>
                </a:solidFill>
              </a:rPr>
              <a:t>1.5</a:t>
            </a:r>
            <a:r>
              <a:rPr lang="zh-CN" altLang="en-US" sz="2300" dirty="0">
                <a:solidFill>
                  <a:srgbClr val="2D2DB9"/>
                </a:solidFill>
              </a:rPr>
              <a:t>车</a:t>
            </a:r>
            <a:r>
              <a:rPr lang="en-US" altLang="zh-CN" sz="2300" dirty="0">
                <a:solidFill>
                  <a:srgbClr val="2D2DB9"/>
                </a:solidFill>
              </a:rPr>
              <a:t>/</a:t>
            </a:r>
            <a:r>
              <a:rPr lang="zh-CN" altLang="en-US" sz="2300" dirty="0">
                <a:solidFill>
                  <a:srgbClr val="2D2DB9"/>
                </a:solidFill>
              </a:rPr>
              <a:t>每天</a:t>
            </a:r>
            <a:r>
              <a:rPr lang="en-US" altLang="zh-CN" sz="2300" dirty="0">
                <a:solidFill>
                  <a:srgbClr val="2D2DB9"/>
                </a:solidFill>
              </a:rPr>
              <a:t>,</a:t>
            </a:r>
            <a:r>
              <a:rPr lang="zh-CN" altLang="en-US" sz="2300" dirty="0">
                <a:solidFill>
                  <a:srgbClr val="2D2DB9"/>
                </a:solidFill>
              </a:rPr>
              <a:t>求每天推迟卸货的</a:t>
            </a:r>
            <a:r>
              <a:rPr lang="zh-CN" altLang="en-US" sz="2300" dirty="0" smtClean="0">
                <a:solidFill>
                  <a:srgbClr val="2D2DB9"/>
                </a:solidFill>
              </a:rPr>
              <a:t>平均车数</a:t>
            </a:r>
            <a:endParaRPr lang="en-US" altLang="zh-CN" sz="2300" dirty="0" smtClean="0">
              <a:solidFill>
                <a:srgbClr val="2D2DB9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en-US" altLang="zh-CN" sz="2000" dirty="0" smtClean="0">
              <a:solidFill>
                <a:srgbClr val="2D2DB9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zh-CN" altLang="en-US" sz="2000" dirty="0">
              <a:solidFill>
                <a:srgbClr val="2D2DB9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en-US" altLang="zh-CN" sz="2000" dirty="0" smtClean="0">
              <a:solidFill>
                <a:srgbClr val="2D2DB9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olidFill>
                <a:srgbClr val="2D2DB9"/>
              </a:solidFill>
            </a:endParaRP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 smtClean="0">
                <a:solidFill>
                  <a:srgbClr val="2D2DB9"/>
                </a:solidFill>
              </a:rPr>
              <a:t>钱颂迪</a:t>
            </a:r>
            <a:r>
              <a:rPr lang="en-US" altLang="zh-CN" sz="2000" dirty="0" smtClean="0">
                <a:solidFill>
                  <a:srgbClr val="2D2DB9"/>
                </a:solidFill>
              </a:rPr>
              <a:t>.</a:t>
            </a:r>
            <a:r>
              <a:rPr lang="zh-CN" altLang="en-US" sz="2000" dirty="0" smtClean="0">
                <a:solidFill>
                  <a:srgbClr val="2D2DB9"/>
                </a:solidFill>
              </a:rPr>
              <a:t> 运筹学（修订版）</a:t>
            </a:r>
            <a:r>
              <a:rPr lang="en-US" altLang="zh-CN" sz="2000" dirty="0" smtClean="0">
                <a:solidFill>
                  <a:srgbClr val="2D2DB9"/>
                </a:solidFill>
              </a:rPr>
              <a:t>. </a:t>
            </a:r>
            <a:r>
              <a:rPr lang="zh-CN" altLang="en-US" sz="2000" dirty="0" smtClean="0">
                <a:solidFill>
                  <a:srgbClr val="2D2DB9"/>
                </a:solidFill>
              </a:rPr>
              <a:t>北京：清华大学出版社，</a:t>
            </a:r>
            <a:r>
              <a:rPr lang="en-US" altLang="zh-CN" sz="2000" dirty="0" smtClean="0">
                <a:solidFill>
                  <a:srgbClr val="2D2DB9"/>
                </a:solidFill>
              </a:rPr>
              <a:t>1990.</a:t>
            </a:r>
            <a:endParaRPr lang="en-US" altLang="zh-CN" sz="2000" dirty="0">
              <a:solidFill>
                <a:srgbClr val="2D2DB9"/>
              </a:solidFill>
            </a:endParaRP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 smtClean="0">
              <a:solidFill>
                <a:srgbClr val="2D2DB9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800" dirty="0" smtClean="0">
                <a:solidFill>
                  <a:srgbClr val="2D2DB9"/>
                </a:solidFill>
              </a:rPr>
              <a:t>问题分析：</a:t>
            </a:r>
            <a:endParaRPr lang="en-US" altLang="zh-CN" sz="2800" dirty="0">
              <a:solidFill>
                <a:srgbClr val="2D2DB9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 smtClean="0">
                <a:solidFill>
                  <a:srgbClr val="2D2DB9"/>
                </a:solidFill>
              </a:rPr>
              <a:t>这</a:t>
            </a:r>
            <a:r>
              <a:rPr lang="zh-CN" altLang="en-US" sz="2400" dirty="0">
                <a:solidFill>
                  <a:srgbClr val="2D2DB9"/>
                </a:solidFill>
              </a:rPr>
              <a:t>是单服务台的</a:t>
            </a:r>
            <a:r>
              <a:rPr lang="zh-CN" altLang="en-US" sz="2400" dirty="0" smtClean="0">
                <a:solidFill>
                  <a:srgbClr val="2D2DB9"/>
                </a:solidFill>
              </a:rPr>
              <a:t>排队系统</a:t>
            </a:r>
            <a:r>
              <a:rPr lang="en-US" altLang="zh-CN" sz="2400" dirty="0">
                <a:solidFill>
                  <a:srgbClr val="2D2DB9"/>
                </a:solidFill>
              </a:rPr>
              <a:t>,</a:t>
            </a:r>
            <a:r>
              <a:rPr lang="zh-CN" altLang="en-US" sz="2400" dirty="0">
                <a:solidFill>
                  <a:srgbClr val="2D2DB9"/>
                </a:solidFill>
              </a:rPr>
              <a:t>可验证</a:t>
            </a:r>
            <a:r>
              <a:rPr lang="zh-CN" altLang="en-US" sz="2400" dirty="0">
                <a:solidFill>
                  <a:srgbClr val="FF0000"/>
                </a:solidFill>
              </a:rPr>
              <a:t>到达车数不</a:t>
            </a:r>
            <a:r>
              <a:rPr lang="zh-CN" altLang="en-US" sz="2400" dirty="0" smtClean="0">
                <a:solidFill>
                  <a:srgbClr val="FF0000"/>
                </a:solidFill>
              </a:rPr>
              <a:t>服从泊松分布</a:t>
            </a:r>
            <a:r>
              <a:rPr lang="en-US" altLang="zh-CN" sz="2400" dirty="0">
                <a:solidFill>
                  <a:srgbClr val="2D2DB9"/>
                </a:solidFill>
              </a:rPr>
              <a:t>,</a:t>
            </a:r>
            <a:r>
              <a:rPr lang="zh-CN" altLang="en-US" sz="2400" dirty="0">
                <a:solidFill>
                  <a:srgbClr val="FF0000"/>
                </a:solidFill>
              </a:rPr>
              <a:t>服务时间也不服从负指数分布</a:t>
            </a:r>
            <a:r>
              <a:rPr lang="en-US" altLang="zh-CN" sz="2400" dirty="0">
                <a:solidFill>
                  <a:srgbClr val="2D2DB9"/>
                </a:solidFill>
              </a:rPr>
              <a:t>(</a:t>
            </a:r>
            <a:r>
              <a:rPr lang="zh-CN" altLang="en-US" sz="2400" dirty="0">
                <a:solidFill>
                  <a:srgbClr val="2D2DB9"/>
                </a:solidFill>
              </a:rPr>
              <a:t>这是定长服务时间</a:t>
            </a:r>
            <a:r>
              <a:rPr lang="en-US" altLang="zh-CN" sz="2400" dirty="0" smtClean="0">
                <a:solidFill>
                  <a:srgbClr val="2D2DB9"/>
                </a:solidFill>
              </a:rPr>
              <a:t>),</a:t>
            </a:r>
            <a:r>
              <a:rPr lang="zh-CN" altLang="en-US" sz="2400" dirty="0" smtClean="0">
                <a:solidFill>
                  <a:srgbClr val="2D2DB9"/>
                </a:solidFill>
              </a:rPr>
              <a:t>难以用解析式求解。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135809"/>
              </p:ext>
            </p:extLst>
          </p:nvPr>
        </p:nvGraphicFramePr>
        <p:xfrm>
          <a:off x="2267744" y="3140968"/>
          <a:ext cx="5343529" cy="76200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11972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1098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1098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1098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8035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1098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1098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1098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到达车数</a:t>
                      </a:r>
                    </a:p>
                  </a:txBody>
                  <a:tcPr marL="17780" marR="17780" marT="0" marB="0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sz="20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sz="20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sz="20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sz="20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sz="20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CN" sz="20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&gt;6</a:t>
                      </a:r>
                      <a:endParaRPr lang="zh-CN" sz="2000" b="0" kern="120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概率</a:t>
                      </a:r>
                    </a:p>
                  </a:txBody>
                  <a:tcPr marL="17780" marR="17780" marT="0" marB="0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0.23</a:t>
                      </a:r>
                      <a:endParaRPr lang="zh-CN" sz="20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0.30</a:t>
                      </a:r>
                      <a:endParaRPr lang="zh-CN" sz="20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0.30</a:t>
                      </a:r>
                      <a:endParaRPr lang="zh-CN" sz="20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lang="zh-CN" sz="20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endParaRPr lang="zh-CN" sz="20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</a:t>
                      </a:r>
                      <a:endParaRPr lang="zh-CN" sz="20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  <a:endParaRPr lang="zh-CN" sz="2000" b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17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模拟模型示例（续）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建立模型</a:t>
            </a:r>
            <a:endParaRPr lang="en-US" altLang="zh-CN" sz="2800" dirty="0" smtClean="0"/>
          </a:p>
          <a:p>
            <a:pPr lvl="1">
              <a:lnSpc>
                <a:spcPct val="105000"/>
              </a:lnSpc>
            </a:pPr>
            <a:r>
              <a:rPr lang="zh-CN" altLang="en-US" sz="2400" dirty="0" smtClean="0"/>
              <a:t>初始选择：</a:t>
            </a:r>
            <a:r>
              <a:rPr lang="zh-CN" altLang="en-US" sz="2000" dirty="0">
                <a:solidFill>
                  <a:srgbClr val="00B050"/>
                </a:solidFill>
                <a:hlinkClick r:id="rId2" action="ppaction://hlinkfile"/>
              </a:rPr>
              <a:t>离散系统模拟模型</a:t>
            </a:r>
            <a:endParaRPr lang="en-US" altLang="zh-CN" sz="2000" dirty="0">
              <a:solidFill>
                <a:srgbClr val="00B050"/>
              </a:solidFill>
            </a:endParaRPr>
          </a:p>
          <a:p>
            <a:pPr lvl="1"/>
            <a:r>
              <a:rPr lang="zh-CN" altLang="en-US" sz="2400" dirty="0" smtClean="0"/>
              <a:t>建模过程：通过分析问题建立随机过程模型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建模工具：</a:t>
            </a:r>
            <a:r>
              <a:rPr lang="en-US" altLang="zh-CN" sz="2400" dirty="0" smtClean="0"/>
              <a:t>Excel</a:t>
            </a:r>
          </a:p>
          <a:p>
            <a:endParaRPr lang="en-US" altLang="zh-CN" sz="2800" dirty="0" smtClean="0"/>
          </a:p>
          <a:p>
            <a:r>
              <a:rPr lang="zh-CN" altLang="en-US" sz="2800" dirty="0" smtClean="0"/>
              <a:t>模型模拟</a:t>
            </a:r>
            <a:endParaRPr lang="en-US" altLang="zh-CN" sz="2800" dirty="0" smtClean="0"/>
          </a:p>
          <a:p>
            <a:pPr lvl="1"/>
            <a:r>
              <a:rPr lang="zh-CN" altLang="en-US" sz="2400" dirty="0" smtClean="0"/>
              <a:t>改变随机变量的值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统计模拟结果</a:t>
            </a: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A564-3797-41F0-9FA0-DE2DB885F0C3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5404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799" y="498092"/>
            <a:ext cx="6034177" cy="668784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实验</a:t>
            </a:r>
            <a:r>
              <a:rPr lang="en-US" altLang="zh-CN" dirty="0" smtClean="0"/>
              <a:t>3</a:t>
            </a:r>
            <a:r>
              <a:rPr lang="zh-CN" altLang="en-US" dirty="0" smtClean="0"/>
              <a:t>：</a:t>
            </a:r>
            <a:r>
              <a:rPr lang="zh-CN" altLang="en-US" dirty="0"/>
              <a:t>蒙特卡洛模拟</a:t>
            </a:r>
            <a:r>
              <a:rPr lang="en-US" altLang="zh-CN" dirty="0"/>
              <a:t>——</a:t>
            </a:r>
            <a:r>
              <a:rPr lang="zh-CN" altLang="en-US" dirty="0"/>
              <a:t>函数积分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000" dirty="0" smtClean="0">
                    <a:solidFill>
                      <a:schemeClr val="tx1"/>
                    </a:solidFill>
                  </a:rPr>
                  <a:t>问题：试求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func>
                          <m:func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altLang="zh-CN" sz="2000" dirty="0" smtClean="0"/>
              </a:p>
              <a:p>
                <a:r>
                  <a:rPr lang="zh-CN" altLang="en-US" sz="2000" dirty="0" smtClean="0"/>
                  <a:t>解：</a:t>
                </a:r>
                <a:endParaRPr lang="en-US" altLang="zh-CN" sz="2000" dirty="0" smtClean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−0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sz="2000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func>
                      </m:e>
                    </m:d>
                  </m:oMath>
                </a14:m>
                <a:r>
                  <a:rPr lang="en-US" altLang="zh-CN" sz="2000" b="0" dirty="0" smtClean="0"/>
                  <a:t>,   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zh-CN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en-US" altLang="zh-CN" sz="2000" b="0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f>
                        <m:fPr>
                          <m:ctrlPr>
                            <a:rPr lang="en-US" altLang="zh-CN" sz="200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sz="200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altLang="zh-CN" sz="200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latin typeface="Cambria Math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nary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altLang="zh-CN" sz="2000" b="0" dirty="0" smtClean="0"/>
              </a:p>
              <a:p>
                <a:r>
                  <a:rPr lang="en-US" altLang="zh-CN" sz="2000" dirty="0" smtClean="0">
                    <a:hlinkClick r:id="rId2" action="ppaction://hlinkfile"/>
                  </a:rPr>
                  <a:t>Excel</a:t>
                </a:r>
                <a:r>
                  <a:rPr lang="zh-CN" altLang="en-US" sz="2000" dirty="0" smtClean="0">
                    <a:hlinkClick r:id="rId2" action="ppaction://hlinkfile"/>
                  </a:rPr>
                  <a:t>实现</a:t>
                </a:r>
                <a:endParaRPr lang="en-US" altLang="zh-CN" sz="2000" b="0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863" t="-11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10EDA-EA5B-43F9-AF62-0EEEB338FCB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99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799" y="498092"/>
            <a:ext cx="6034177" cy="668784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实验</a:t>
            </a:r>
            <a:r>
              <a:rPr lang="en-US" altLang="zh-CN" dirty="0" smtClean="0"/>
              <a:t>4</a:t>
            </a:r>
            <a:r>
              <a:rPr lang="zh-CN" altLang="en-US" dirty="0" smtClean="0"/>
              <a:t>：</a:t>
            </a:r>
            <a:r>
              <a:rPr lang="zh-CN" altLang="en-US" dirty="0"/>
              <a:t>蒙特卡洛模拟</a:t>
            </a:r>
            <a:r>
              <a:rPr lang="en-US" altLang="zh-CN" dirty="0"/>
              <a:t>——</a:t>
            </a:r>
            <a:r>
              <a:rPr lang="zh-CN" altLang="en-US" dirty="0"/>
              <a:t>计算</a:t>
            </a:r>
            <a:r>
              <a:rPr lang="en-US" altLang="zh-CN" dirty="0"/>
              <a:t>π</a:t>
            </a:r>
            <a:r>
              <a:rPr lang="zh-CN" altLang="en-US" dirty="0"/>
              <a:t>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000" b="0" dirty="0" smtClean="0">
                    <a:solidFill>
                      <a:schemeClr val="tx1"/>
                    </a:solidFill>
                  </a:rPr>
                  <a:t>要求：</a:t>
                </a:r>
                <a:r>
                  <a:rPr lang="en-US" altLang="zh-CN" sz="2000" b="0" dirty="0" smtClean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000" b="0" dirty="0" smtClean="0">
                    <a:solidFill>
                      <a:schemeClr val="tx1"/>
                    </a:solidFill>
                  </a:rPr>
                  <a:t>用投点法计算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sz="2000" b="0" dirty="0" smtClean="0">
                    <a:solidFill>
                      <a:schemeClr val="tx1"/>
                    </a:solidFill>
                  </a:rPr>
                  <a:t>值</a:t>
                </a:r>
                <a:endParaRPr lang="en-US" altLang="zh-CN" sz="2000" b="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000" b="0" dirty="0" smtClean="0">
                    <a:solidFill>
                      <a:schemeClr val="accent4"/>
                    </a:solidFill>
                  </a:rPr>
                  <a:t>已知圆面积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0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altLang="zh-CN" sz="20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altLang="zh-CN" sz="2000" b="0" i="1" smtClean="0">
                            <a:solidFill>
                              <a:schemeClr val="accent4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000" b="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000" dirty="0" smtClean="0">
                    <a:solidFill>
                      <a:schemeClr val="tx1"/>
                    </a:solidFill>
                    <a:hlinkClick r:id="rId3" action="ppaction://hlinkfile"/>
                  </a:rPr>
                  <a:t>Excel</a:t>
                </a:r>
                <a:r>
                  <a:rPr lang="zh-CN" altLang="en-US" sz="2000" dirty="0" smtClean="0">
                    <a:solidFill>
                      <a:schemeClr val="tx1"/>
                    </a:solidFill>
                    <a:hlinkClick r:id="rId3" action="ppaction://hlinkfile"/>
                  </a:rPr>
                  <a:t>实现</a:t>
                </a:r>
                <a:endParaRPr lang="en-US" altLang="zh-CN" sz="2000" b="0" dirty="0" smtClean="0">
                  <a:solidFill>
                    <a:schemeClr val="tx1"/>
                  </a:solidFill>
                </a:endParaRPr>
              </a:p>
              <a:p>
                <a:endParaRPr lang="en-US" altLang="zh-CN" sz="2000" b="0" dirty="0" smtClean="0">
                  <a:solidFill>
                    <a:schemeClr val="tx1"/>
                  </a:solidFill>
                </a:endParaRPr>
              </a:p>
              <a:p>
                <a:endParaRPr lang="en-US" altLang="zh-CN" sz="2000" b="0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4"/>
                <a:stretch>
                  <a:fillRect l="-8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18011"/>
              </p:ext>
            </p:extLst>
          </p:nvPr>
        </p:nvGraphicFramePr>
        <p:xfrm>
          <a:off x="3007697" y="2223258"/>
          <a:ext cx="3830338" cy="3440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1" name="Visio" r:id="rId5" imgW="5134126" imgH="4610215" progId="Visio.Drawing.15">
                  <p:embed/>
                </p:oleObj>
              </mc:Choice>
              <mc:Fallback>
                <p:oleObj name="Visio" r:id="rId5" imgW="5134126" imgH="4610215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07697" y="2223258"/>
                        <a:ext cx="3830338" cy="34404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10EDA-EA5B-43F9-AF62-0EEEB338FCB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16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武汉科技大学_张云川">
  <a:themeElements>
    <a:clrScheme name="武汉科技大学VI色系">
      <a:dk1>
        <a:srgbClr val="CC0000"/>
      </a:dk1>
      <a:lt1>
        <a:srgbClr val="FFFFFF"/>
      </a:lt1>
      <a:dk2>
        <a:srgbClr val="0000A6"/>
      </a:dk2>
      <a:lt2>
        <a:srgbClr val="F2F2F2"/>
      </a:lt2>
      <a:accent1>
        <a:srgbClr val="99E6E6"/>
      </a:accent1>
      <a:accent2>
        <a:srgbClr val="0F6B1F"/>
      </a:accent2>
      <a:accent3>
        <a:srgbClr val="737E7E"/>
      </a:accent3>
      <a:accent4>
        <a:srgbClr val="000000"/>
      </a:accent4>
      <a:accent5>
        <a:srgbClr val="FFFFFF"/>
      </a:accent5>
      <a:accent6>
        <a:srgbClr val="000000"/>
      </a:accent6>
      <a:hlink>
        <a:srgbClr val="0F6B1F"/>
      </a:hlink>
      <a:folHlink>
        <a:srgbClr val="737E7E"/>
      </a:folHlink>
    </a:clrScheme>
    <a:fontScheme name="华文新魏">
      <a:majorFont>
        <a:latin typeface="Times New Roman"/>
        <a:ea typeface="华文新魏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Arial" charset="0"/>
            <a:ea typeface="华文行楷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8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Arial" charset="0"/>
            <a:ea typeface="华文行楷" pitchFamily="2" charset="-122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  <a:normAutofit/>
      </a:bodyPr>
      <a:lstStyle>
        <a:defPPr>
          <a:defRPr kern="0" dirty="0" smtClean="0"/>
        </a:defPPr>
      </a:lstStyle>
    </a:txDef>
  </a:objectDefaults>
  <a:extraClrSchemeLst>
    <a:extraClrScheme>
      <a:clrScheme name="清华版教材展示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清华版教材展示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版教材展示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版教材展示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版教材展示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版教材展示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清华版教材展示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第2章 离散模拟原理</Template>
  <TotalTime>2454</TotalTime>
  <Words>362</Words>
  <Application>Microsoft Office PowerPoint</Application>
  <PresentationFormat>全屏显示(4:3)</PresentationFormat>
  <Paragraphs>88</Paragraphs>
  <Slides>5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7" baseType="lpstr">
      <vt:lpstr>武汉科技大学_张云川</vt:lpstr>
      <vt:lpstr>Visio</vt:lpstr>
      <vt:lpstr>实验1：解析模型示例——线性预测模型</vt:lpstr>
      <vt:lpstr>实验2：模拟模型——仓库卸货问题</vt:lpstr>
      <vt:lpstr>模拟模型示例（续）</vt:lpstr>
      <vt:lpstr>实验3：蒙特卡洛模拟——函数积分</vt:lpstr>
      <vt:lpstr>实验4：蒙特卡洛模拟——计算π值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计算机模型与仿真实验</dc:title>
  <dc:creator>Yunchuan Zhang</dc:creator>
  <cp:lastModifiedBy>yzh10</cp:lastModifiedBy>
  <cp:revision>445</cp:revision>
  <dcterms:created xsi:type="dcterms:W3CDTF">2014-09-14T00:14:06Z</dcterms:created>
  <dcterms:modified xsi:type="dcterms:W3CDTF">2020-05-21T02:32:34Z</dcterms:modified>
</cp:coreProperties>
</file>